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5"/>
  </p:notesMasterIdLst>
  <p:sldIdLst>
    <p:sldId id="256" r:id="rId3"/>
    <p:sldId id="273" r:id="rId4"/>
    <p:sldId id="257" r:id="rId6"/>
    <p:sldId id="258" r:id="rId7"/>
    <p:sldId id="263" r:id="rId8"/>
    <p:sldId id="262" r:id="rId9"/>
    <p:sldId id="267" r:id="rId10"/>
  </p:sldIdLst>
  <p:sldSz cx="1219136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47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147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3" Type="http://schemas.openxmlformats.org/officeDocument/2006/relationships/tableStyles" Target="tableStyles.xml"/><Relationship Id="rId12" Type="http://schemas.openxmlformats.org/officeDocument/2006/relationships/viewProps" Target="viewProps.xml"/><Relationship Id="rId11" Type="http://schemas.openxmlformats.org/officeDocument/2006/relationships/presProps" Target="presProps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943" y="1143000"/>
            <a:ext cx="5486114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200" b="1">
                <a:solidFill>
                  <a:srgbClr val="F5F8FF"/>
                </a:solidFill>
              </a:defRPr>
            </a:pPr>
            <a:r>
              <a:t>HALF ADDER &amp; FULL ADDER</a:t>
            </a:r>
          </a:p>
          <a:p>
            <a:pPr algn="ctr">
              <a:defRPr sz="2200">
                <a:solidFill>
                  <a:srgbClr val="FFBE46"/>
                </a:solidFill>
              </a:defRPr>
            </a:pPr>
            <a:r>
              <a:t>Digital Logic Design using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49039"/>
            <a:ext cx="10515600" cy="3987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rPr lang="en-US" dirty="0">
                <a:solidFill>
                  <a:srgbClr val="CADCFC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                     Half Adder   |   Full Adder   |   Truth Tables   |   Logisim Simulation</a:t>
            </a:r>
            <a:endParaRPr lang="en-US" dirty="0">
              <a:solidFill>
                <a:srgbClr val="CADCFC"/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  <p:sp>
        <p:nvSpPr>
          <p:cNvPr id="7" name="Shape 5"/>
          <p:cNvSpPr/>
          <p:nvPr/>
        </p:nvSpPr>
        <p:spPr>
          <a:xfrm>
            <a:off x="5271516" y="4709160"/>
            <a:ext cx="1645920" cy="0"/>
          </a:xfrm>
          <a:prstGeom prst="line">
            <a:avLst/>
          </a:prstGeom>
          <a:noFill/>
          <a:ln w="19050">
            <a:solidFill>
              <a:srgbClr val="CADCF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5989320"/>
            <a:ext cx="10543032" cy="32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ADCFC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KLH-FED-2026-Section-2--Batch-8</a:t>
            </a:r>
            <a:endParaRPr lang="en-US" sz="1200" dirty="0"/>
          </a:p>
        </p:txBody>
      </p:sp>
      <p:sp>
        <p:nvSpPr>
          <p:cNvPr id="10" name="Text Box 9"/>
          <p:cNvSpPr txBox="1"/>
          <p:nvPr/>
        </p:nvSpPr>
        <p:spPr>
          <a:xfrm>
            <a:off x="2846070" y="6309360"/>
            <a:ext cx="807275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1600" dirty="0">
                <a:solidFill>
                  <a:srgbClr val="9FB3E8"/>
                </a:solidFill>
                <a:latin typeface="Calibri" charset="0"/>
                <a:ea typeface="Calibri" pitchFamily="34" charset="-122"/>
                <a:cs typeface="Calibri" pitchFamily="34" charset="-120"/>
                <a:sym typeface="+mn-ea"/>
              </a:rPr>
              <a:t>            github.com/Keerthan858/KLH-FED-2026-Section-2--Batch-</a:t>
            </a:r>
            <a:endParaRPr lang="en-US" sz="1600" dirty="0">
              <a:solidFill>
                <a:srgbClr val="9FB3E8"/>
              </a:solidFill>
              <a:latin typeface="Calibri" charset="0"/>
              <a:ea typeface="Calibri" pitchFamily="34" charset="-122"/>
              <a:cs typeface="Calibri" pitchFamily="34" charset="-120"/>
              <a:sym typeface="+mn-e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11" y="411637"/>
            <a:ext cx="11091094" cy="32002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50" dirty="0">
                <a:solidFill>
                  <a:srgbClr val="1E2761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11" y="713373"/>
            <a:ext cx="11091094" cy="73148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Group Members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11" y="1920319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17" y="2144335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6" name="Text 4"/>
          <p:cNvSpPr txBox="1"/>
          <p:nvPr/>
        </p:nvSpPr>
        <p:spPr>
          <a:xfrm>
            <a:off x="822917" y="2144335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2620030661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834492" y="1920319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Ande Keerthan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48611" y="3017541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22917" y="3241558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0" name="Text 8"/>
          <p:cNvSpPr txBox="1"/>
          <p:nvPr/>
        </p:nvSpPr>
        <p:spPr>
          <a:xfrm>
            <a:off x="822917" y="3241558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2620030342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834492" y="3017541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Pothuri Nagasai Anirudh Varma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548611" y="4114764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22917" y="4338781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4" name="Text 12"/>
          <p:cNvSpPr txBox="1"/>
          <p:nvPr/>
        </p:nvSpPr>
        <p:spPr>
          <a:xfrm>
            <a:off x="822917" y="4338781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2620030346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34492" y="4114764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Chinthapalli Siri Chandana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548611" y="5211987"/>
            <a:ext cx="11091094" cy="960070"/>
          </a:xfrm>
          <a:prstGeom prst="roundRect">
            <a:avLst>
              <a:gd name="adj" fmla="val 7619"/>
            </a:avLst>
          </a:prstGeom>
          <a:solidFill>
            <a:srgbClr val="F4F6FB"/>
          </a:solidFill>
          <a:ln w="12700">
            <a:solidFill>
              <a:srgbClr val="D8DE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22917" y="5436003"/>
            <a:ext cx="1737270" cy="512037"/>
          </a:xfrm>
          <a:prstGeom prst="roundRect">
            <a:avLst>
              <a:gd name="adj" fmla="val 50000"/>
            </a:avLst>
          </a:prstGeom>
          <a:solidFill>
            <a:srgbClr val="1E2761"/>
          </a:solidFill>
        </p:spPr>
      </p:sp>
      <p:sp>
        <p:nvSpPr>
          <p:cNvPr id="18" name="Text 16"/>
          <p:cNvSpPr txBox="1"/>
          <p:nvPr/>
        </p:nvSpPr>
        <p:spPr>
          <a:xfrm>
            <a:off x="822917" y="5436003"/>
            <a:ext cx="1737270" cy="5120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2620030347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834492" y="5211987"/>
            <a:ext cx="8530908" cy="96007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2222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Saikam Nandhini</a:t>
            </a:r>
            <a:endParaRPr lang="en-US" sz="1900" dirty="0"/>
          </a:p>
        </p:txBody>
      </p:sp>
      <p:sp>
        <p:nvSpPr>
          <p:cNvPr id="20" name="Text 18"/>
          <p:cNvSpPr txBox="1"/>
          <p:nvPr/>
        </p:nvSpPr>
        <p:spPr>
          <a:xfrm>
            <a:off x="11548270" y="6446363"/>
            <a:ext cx="365741" cy="2743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28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548611" y="6446363"/>
            <a:ext cx="5486114" cy="27430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charset="0"/>
                <a:ea typeface="Calibri" pitchFamily="34" charset="-122"/>
                <a:cs typeface="Calibri" pitchFamily="34" charset="-120"/>
              </a:rPr>
              <a:t>Half Adder &amp; Full Adder Using Logisim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1. What is a Binary Adder?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4592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A combinational circuit that adds binary numbers.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SUM is the result bit; CARRY is the overflow.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A core building block of ALUs, CPUs and calculators.</a:t>
            </a:r>
          </a:p>
          <a:p>
            <a:pPr>
              <a:spcAft>
                <a:spcPts val="1400"/>
              </a:spcAft>
              <a:defRPr sz="2200">
                <a:solidFill>
                  <a:srgbClr val="F5F8FF"/>
                </a:solidFill>
              </a:defRPr>
            </a:pPr>
            <a:r>
              <a:t>Two common circuits: Half Adder and Full Adder.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28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2. Half Adder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9953" y="64008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EC8E1"/>
                </a:solidFill>
              </a:defRPr>
            </a:pPr>
            <a:r>
              <a:t>Adds two 1-bit binary inputs: A and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380" y="1829435"/>
            <a:ext cx="5000625" cy="3158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rPr lang="en-US" sz="1800"/>
              <a:t>Half Adder is a simple circuit that adds two single bit binary numbers.</a:t>
            </a:r>
            <a:endParaRPr sz="1800"/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Inputs: A, B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Outputs: Sum (S), Carry (C)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SUM is produced by XOR:  S = A ⊕ B</a:t>
            </a:r>
          </a:p>
          <a:p>
            <a:pPr>
              <a:spcAft>
                <a:spcPts val="1400"/>
              </a:spcAft>
              <a:defRPr sz="2100">
                <a:solidFill>
                  <a:srgbClr val="F5F8FF"/>
                </a:solidFill>
              </a:defRPr>
            </a:pPr>
            <a:r>
              <a:t>CARRY is produced by AND:  C = A · 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3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6611620" y="2697480"/>
          <a:ext cx="5001260" cy="32658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0315"/>
                <a:gridCol w="1261745"/>
                <a:gridCol w="1238885"/>
                <a:gridCol w="1250315"/>
              </a:tblGrid>
              <a:tr h="701040"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SUM (A⊕B)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1">
                          <a:solidFill>
                            <a:srgbClr val="F5F8FF"/>
                          </a:solidFill>
                        </a:defRPr>
                      </a:pPr>
                      <a:r>
                        <a:t>CARRY (A·B)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640715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641350"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20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telegram-cloud-photo-size-5-6107289074117840998-x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5370" y="182880"/>
            <a:ext cx="3413760" cy="24003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247120" y="667512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6122035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7. Full Adder using Two Half Adders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962660"/>
            <a:ext cx="10515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BEC8E1"/>
                </a:solidFill>
              </a:defRPr>
            </a:pPr>
            <a:r>
              <a:t>Two Half Adders + one OR gate — modular, easy to build, test and expand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8</a:t>
            </a:r>
          </a:p>
        </p:txBody>
      </p:sp>
      <p:sp>
        <p:nvSpPr>
          <p:cNvPr id="8" name="TextBox 6"/>
          <p:cNvSpPr txBox="1"/>
          <p:nvPr/>
        </p:nvSpPr>
        <p:spPr>
          <a:xfrm>
            <a:off x="6685280" y="2310765"/>
            <a:ext cx="6096635" cy="266319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rPr lang="en-US" sz="1400"/>
              <a:t>A full Adder is an advanced circuit that adds three single bit binary numbers.</a:t>
            </a:r>
            <a:endParaRPr lang="en-US" sz="1400"/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Inputs: A, B, Cin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Outputs: SUM and Carry-Out (Cout)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SUM = A ⊕ B ⊕ Cin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Cout = AB + Cin(A ⊕ B)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  <a:r>
              <a:t>Built from two Half Adders + one OR gate.</a:t>
            </a:r>
          </a:p>
          <a:p>
            <a:pPr>
              <a:spcAft>
                <a:spcPts val="1400"/>
              </a:spcAft>
              <a:defRPr sz="2000">
                <a:solidFill>
                  <a:srgbClr val="F5F8FF"/>
                </a:solidFill>
              </a:defRPr>
            </a:pPr>
          </a:p>
        </p:txBody>
      </p:sp>
      <p:pic>
        <p:nvPicPr>
          <p:cNvPr id="12" name="Picture 11" descr="telegram-cloud-photo-size-5-6107289074117840999-x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175" y="2080260"/>
            <a:ext cx="5979795" cy="36347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1148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6. Full Adder Truth Table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1325880"/>
          <a:ext cx="1024128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8256"/>
                <a:gridCol w="2048256"/>
                <a:gridCol w="2048256"/>
                <a:gridCol w="2048256"/>
                <a:gridCol w="2048256"/>
              </a:tblGrid>
              <a:tr h="558800"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A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B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Cin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SUM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1">
                          <a:solidFill>
                            <a:srgbClr val="F5F8FF"/>
                          </a:solidFill>
                        </a:defRPr>
                      </a:pPr>
                      <a:r>
                        <a:t>Cout</a:t>
                      </a:r>
                    </a:p>
                  </a:txBody>
                  <a:tcPr>
                    <a:solidFill>
                      <a:srgbClr val="48BEFF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500" b="0">
                          <a:solidFill>
                            <a:srgbClr val="F5F8FF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232D5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193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698480" y="-365760"/>
            <a:ext cx="2011680" cy="2011680"/>
          </a:xfrm>
          <a:prstGeom prst="ellipse">
            <a:avLst/>
          </a:prstGeom>
          <a:solidFill>
            <a:srgbClr val="48B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1064240" y="5669280"/>
            <a:ext cx="1463040" cy="1463040"/>
          </a:xfrm>
          <a:prstGeom prst="ellipse">
            <a:avLst/>
          </a:prstGeom>
          <a:solidFill>
            <a:srgbClr val="FFBE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457200" y="5303520"/>
            <a:ext cx="1645920" cy="1645920"/>
          </a:xfrm>
          <a:prstGeom prst="ellipse">
            <a:avLst/>
          </a:prstGeom>
          <a:solidFill>
            <a:srgbClr val="50DC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10332720" cy="2103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5F8FF"/>
                </a:solidFill>
              </a:defRPr>
            </a:pPr>
            <a:r>
              <a:t>THANK YOU</a:t>
            </a:r>
          </a:p>
          <a:p>
            <a:pPr algn="ctr">
              <a:defRPr sz="2800">
                <a:solidFill>
                  <a:srgbClr val="FFBE46"/>
                </a:solidFill>
              </a:defRPr>
            </a:pPr>
            <a:r>
              <a:t>Questions?</a:t>
            </a:r>
          </a:p>
          <a:p>
            <a:pPr algn="ctr">
              <a:defRPr sz="1800">
                <a:solidFill>
                  <a:srgbClr val="BEC8E1"/>
                </a:solidFill>
              </a:defRPr>
            </a:pPr>
            <a:r>
              <a:t>Half Adder • Full Adder • Logisim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0" y="644652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BEC8E1"/>
                </a:solidFill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TABLE_ENDDRAG_ORIGIN_RECT" val="393*252"/>
  <p:tag name="TABLE_ENDDRAG_RECT" val="108*129*393*252"/>
</p:tagLst>
</file>

<file path=ppt/theme/theme1.xml><?xml version="1.0" encoding="utf-8"?>
<a:theme xmlns:a="http://schemas.openxmlformats.org/drawingml/2006/main" name="Office Theme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1359</Words>
  <Application>WPS Presentation</Application>
  <PresentationFormat>On-screen Show (4:3)</PresentationFormat>
  <Paragraphs>209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7</vt:i4>
      </vt:variant>
    </vt:vector>
  </HeadingPairs>
  <TitlesOfParts>
    <vt:vector size="25" baseType="lpstr">
      <vt:lpstr>Arial</vt:lpstr>
      <vt:lpstr>SimSun</vt:lpstr>
      <vt:lpstr>Wingdings</vt:lpstr>
      <vt:lpstr>Arial</vt:lpstr>
      <vt:lpstr>Calibri</vt:lpstr>
      <vt:lpstr>Helvetica Neue</vt:lpstr>
      <vt:lpstr>Calibri</vt:lpstr>
      <vt:lpstr>Calibri</vt:lpstr>
      <vt:lpstr>Cambria</vt:lpstr>
      <vt:lpstr>Cambria</vt:lpstr>
      <vt:lpstr>Cambria</vt:lpstr>
      <vt:lpstr>Microsoft YaHei</vt:lpstr>
      <vt:lpstr>汉仪旗黑</vt:lpstr>
      <vt:lpstr>Arial Unicode MS</vt:lpstr>
      <vt:lpstr>苹方-简</vt:lpstr>
      <vt:lpstr>MS PGothic</vt:lpstr>
      <vt:lpstr>宋体-简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Keerthan Ande</cp:lastModifiedBy>
  <cp:revision>4</cp:revision>
  <dcterms:created xsi:type="dcterms:W3CDTF">2026-09-02T05:29:15Z</dcterms:created>
  <dcterms:modified xsi:type="dcterms:W3CDTF">2026-09-02T05:29:15Z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1033-12.1.28492.28492</vt:lpwstr>
  </property>
  <property fmtid="{D5CDD505-2E9C-101B-9397-08002B2CF9AE}" pid="3" name="ICV">
    <vt:lpwstr>F81A6D21F790E12B2BB4976A994DFF16_43</vt:lpwstr>
  </property>
</Properties>
</file>